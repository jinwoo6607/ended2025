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99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323687-9A35-7DF1-3920-11C0532C12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0941AF8-16F6-364D-89FD-7870A6F531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22F009-0310-27BE-C9DB-6BBC88A72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8634C-4E22-4A2B-BE0B-1357B8F9AF73}" type="datetimeFigureOut">
              <a:rPr lang="ko-KR" altLang="en-US" smtClean="0"/>
              <a:t>2023-02-27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86569A-49A2-BE49-1FCD-FBFB76F16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9174C0-E00B-0717-1CE5-00AA08C21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D3011-F1F4-4259-8270-AE45940A6C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0998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3CCE45-0887-2105-4731-E4C731E47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1D81EA-1C16-0869-644E-D6E69FAE17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31E7F3-1518-49E2-E088-EC21335C0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8634C-4E22-4A2B-BE0B-1357B8F9AF73}" type="datetimeFigureOut">
              <a:rPr lang="ko-KR" altLang="en-US" smtClean="0"/>
              <a:t>2023-02-27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A9B75C-BC69-086A-D7F8-25BE54226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0EA766-57FC-674A-9CC0-14953E53A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D3011-F1F4-4259-8270-AE45940A6C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988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FEB247-4F5B-AFF2-6D57-C12122809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39A184-05CF-C9CF-C495-6BED0C6F99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F6CCC4-F529-8F1F-9ED7-714BFE41A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8634C-4E22-4A2B-BE0B-1357B8F9AF73}" type="datetimeFigureOut">
              <a:rPr lang="ko-KR" altLang="en-US" smtClean="0"/>
              <a:t>2023-02-27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BE0E4D-269D-23A2-F32E-61931C4A9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75281C-FD8D-85CA-9775-B126C72DA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D3011-F1F4-4259-8270-AE45940A6C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0501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49662D-77FE-0139-4322-C6338D575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327B16-B944-D991-BE02-DDD1954C5F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8061FFE-3F39-5512-359F-A310B5BB56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A7852B0-FF65-27BC-CA37-D318C2012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8634C-4E22-4A2B-BE0B-1357B8F9AF73}" type="datetimeFigureOut">
              <a:rPr lang="ko-KR" altLang="en-US" smtClean="0"/>
              <a:t>2023-02-27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210C6A6-9D8C-56B3-0917-A86E00D01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2338E26-1381-129D-BB97-113BB6E5B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D3011-F1F4-4259-8270-AE45940A6C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6886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03A071-01C6-DB74-2CF5-537B72BD5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2D8A1D6-0C1D-C9AB-2691-39EBE82C0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3203A81-4CEC-869D-A3A1-7FEC40CAD9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04B04A6-C6C4-23DE-DEB3-A4C6B66E54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EEC3D31-A2CF-E093-0429-FA23751B4D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01180B4-1ECE-9845-8851-2D60F7789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8634C-4E22-4A2B-BE0B-1357B8F9AF73}" type="datetimeFigureOut">
              <a:rPr lang="ko-KR" altLang="en-US" smtClean="0"/>
              <a:t>2023-02-27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1915ABA-0566-0A29-A125-86BA7D6BE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6E2AD32-AE02-5843-2A9A-DCCCF3CC3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D3011-F1F4-4259-8270-AE45940A6C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6727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100FDF-4F3A-CACE-69D4-6A389EBD5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1695F81-015A-2AA6-9F6D-16780FB55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8634C-4E22-4A2B-BE0B-1357B8F9AF73}" type="datetimeFigureOut">
              <a:rPr lang="ko-KR" altLang="en-US" smtClean="0"/>
              <a:t>2023-02-27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9907874-8571-AA12-77D3-14D163FAF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B6A103-DC94-A20D-7EAB-45D1871EE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D3011-F1F4-4259-8270-AE45940A6C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8295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59A884A-6D5D-4B45-8AB8-2048BE9A4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8634C-4E22-4A2B-BE0B-1357B8F9AF73}" type="datetimeFigureOut">
              <a:rPr lang="ko-KR" altLang="en-US" smtClean="0"/>
              <a:t>2023-02-27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0DD4B85-88A3-A831-1EB2-92D7C8599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6A2020-3313-8307-D50F-A18B7EA4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D3011-F1F4-4259-8270-AE45940A6C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5426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32E38C-1741-463A-9861-E0EC964B6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445025-0B5B-E68A-6C4D-2CD3443E3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BFF0186-868C-07AD-F83D-38E42B55AF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5C91F27-C5DE-3567-677A-7FE089EA3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8634C-4E22-4A2B-BE0B-1357B8F9AF73}" type="datetimeFigureOut">
              <a:rPr lang="ko-KR" altLang="en-US" smtClean="0"/>
              <a:t>2023-02-27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A876ADC-A5C2-213F-3010-5BE48DEDE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ED63DA-F7D5-D956-E420-360B90785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D3011-F1F4-4259-8270-AE45940A6C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167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24C0B5-0071-3E2B-A417-08E5608CF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9B78BD7-4E42-3820-A336-368F737706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DAADA58-DD83-DFF8-E4A1-278A89431A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5757554-FD21-F69C-343C-A73925B88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8634C-4E22-4A2B-BE0B-1357B8F9AF73}" type="datetimeFigureOut">
              <a:rPr lang="ko-KR" altLang="en-US" smtClean="0"/>
              <a:t>2023-02-27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6ED0E8-F404-7D39-8C86-3F5245A7C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5A9C979-8A60-9D68-1B72-95AEB73EB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D3011-F1F4-4259-8270-AE45940A6C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8112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272D64-2EE0-5669-FAE8-BE74406B5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AA75173-15CF-01E8-6CDC-1635FDE0C7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0490D4-EE8F-5F74-1E0F-381325625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8634C-4E22-4A2B-BE0B-1357B8F9AF73}" type="datetimeFigureOut">
              <a:rPr lang="ko-KR" altLang="en-US" smtClean="0"/>
              <a:t>2023-02-27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397A56-5D8F-5BFD-DB3F-E8EE9F48C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828079-A831-AE96-E032-850E944A1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D3011-F1F4-4259-8270-AE45940A6C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248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652568C-7EBF-7F93-C025-BC301D7732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74A6C3C-9A4A-A048-6944-6875D2E240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424300-3CD7-9E7B-4FE5-60C92D99E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8634C-4E22-4A2B-BE0B-1357B8F9AF73}" type="datetimeFigureOut">
              <a:rPr lang="ko-KR" altLang="en-US" smtClean="0"/>
              <a:t>2023-02-27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AAC44A-2C59-5CC6-6A7F-4C586B06A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D592ED-9E38-3CD3-B47D-845AB5755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D3011-F1F4-4259-8270-AE45940A6C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0698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6153EAB-1568-2C7C-E36C-118FC8273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AA5A64-52F2-D17A-06A7-10ADFC3BE5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69899C-AC0B-0FC1-530A-78AA3B80B8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A8634C-4E22-4A2B-BE0B-1357B8F9AF73}" type="datetimeFigureOut">
              <a:rPr lang="ko-KR" altLang="en-US" smtClean="0"/>
              <a:t>2023-02-27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8CCA2C-2968-B520-5E66-E724AE94FC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2C0EC6-52BF-D636-6AE6-F080653BF3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FD3011-F1F4-4259-8270-AE45940A6C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1895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5">
            <a:extLst>
              <a:ext uri="{FF2B5EF4-FFF2-40B4-BE49-F238E27FC236}">
                <a16:creationId xmlns:a16="http://schemas.microsoft.com/office/drawing/2014/main" id="{461BB4CF-FB9C-A187-A175-79FDD92F83DB}"/>
              </a:ext>
            </a:extLst>
          </p:cNvPr>
          <p:cNvSpPr/>
          <p:nvPr/>
        </p:nvSpPr>
        <p:spPr>
          <a:xfrm>
            <a:off x="1480287" y="820464"/>
            <a:ext cx="9231425" cy="5409874"/>
          </a:xfrm>
          <a:prstGeom prst="rect">
            <a:avLst/>
          </a:prstGeom>
          <a:noFill/>
          <a:ln w="19050" cmpd="sng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cxnSp>
        <p:nvCxnSpPr>
          <p:cNvPr id="5" name="直線コネクタ 7">
            <a:extLst>
              <a:ext uri="{FF2B5EF4-FFF2-40B4-BE49-F238E27FC236}">
                <a16:creationId xmlns:a16="http://schemas.microsoft.com/office/drawing/2014/main" id="{D40634D2-0219-A703-78EA-5ABE92FDC64A}"/>
              </a:ext>
            </a:extLst>
          </p:cNvPr>
          <p:cNvCxnSpPr>
            <a:cxnSpLocks/>
          </p:cNvCxnSpPr>
          <p:nvPr/>
        </p:nvCxnSpPr>
        <p:spPr>
          <a:xfrm>
            <a:off x="3334534" y="2623756"/>
            <a:ext cx="1843881" cy="0"/>
          </a:xfrm>
          <a:prstGeom prst="line">
            <a:avLst/>
          </a:prstGeom>
          <a:ln w="12700" cmpd="sng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8">
            <a:extLst>
              <a:ext uri="{FF2B5EF4-FFF2-40B4-BE49-F238E27FC236}">
                <a16:creationId xmlns:a16="http://schemas.microsoft.com/office/drawing/2014/main" id="{2DD91C90-A66B-13E0-E68D-37F423A4C745}"/>
              </a:ext>
            </a:extLst>
          </p:cNvPr>
          <p:cNvCxnSpPr/>
          <p:nvPr/>
        </p:nvCxnSpPr>
        <p:spPr>
          <a:xfrm>
            <a:off x="1490653" y="4427047"/>
            <a:ext cx="9219407" cy="0"/>
          </a:xfrm>
          <a:prstGeom prst="line">
            <a:avLst/>
          </a:prstGeom>
          <a:ln w="12700" cmpd="sng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10">
            <a:extLst>
              <a:ext uri="{FF2B5EF4-FFF2-40B4-BE49-F238E27FC236}">
                <a16:creationId xmlns:a16="http://schemas.microsoft.com/office/drawing/2014/main" id="{12D19A3E-BAC9-8A28-5F5D-0EA322577C69}"/>
              </a:ext>
            </a:extLst>
          </p:cNvPr>
          <p:cNvCxnSpPr>
            <a:cxnSpLocks/>
          </p:cNvCxnSpPr>
          <p:nvPr/>
        </p:nvCxnSpPr>
        <p:spPr>
          <a:xfrm>
            <a:off x="3334534" y="820464"/>
            <a:ext cx="0" cy="3606582"/>
          </a:xfrm>
          <a:prstGeom prst="line">
            <a:avLst/>
          </a:prstGeom>
          <a:ln w="12700" cmpd="sng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14">
            <a:extLst>
              <a:ext uri="{FF2B5EF4-FFF2-40B4-BE49-F238E27FC236}">
                <a16:creationId xmlns:a16="http://schemas.microsoft.com/office/drawing/2014/main" id="{32A2D789-561E-2B05-7578-B3F8D9AA5B6B}"/>
              </a:ext>
            </a:extLst>
          </p:cNvPr>
          <p:cNvCxnSpPr>
            <a:cxnSpLocks/>
          </p:cNvCxnSpPr>
          <p:nvPr/>
        </p:nvCxnSpPr>
        <p:spPr>
          <a:xfrm>
            <a:off x="5178415" y="820464"/>
            <a:ext cx="0" cy="3606582"/>
          </a:xfrm>
          <a:prstGeom prst="line">
            <a:avLst/>
          </a:prstGeom>
          <a:ln w="12700" cmpd="sng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18">
            <a:extLst>
              <a:ext uri="{FF2B5EF4-FFF2-40B4-BE49-F238E27FC236}">
                <a16:creationId xmlns:a16="http://schemas.microsoft.com/office/drawing/2014/main" id="{E714BF27-F427-27D6-FD8A-4B56DB23C03D}"/>
              </a:ext>
            </a:extLst>
          </p:cNvPr>
          <p:cNvCxnSpPr>
            <a:cxnSpLocks/>
          </p:cNvCxnSpPr>
          <p:nvPr/>
        </p:nvCxnSpPr>
        <p:spPr>
          <a:xfrm>
            <a:off x="7022296" y="820464"/>
            <a:ext cx="0" cy="3606582"/>
          </a:xfrm>
          <a:prstGeom prst="line">
            <a:avLst/>
          </a:prstGeom>
          <a:ln w="12700" cmpd="sng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19">
            <a:extLst>
              <a:ext uri="{FF2B5EF4-FFF2-40B4-BE49-F238E27FC236}">
                <a16:creationId xmlns:a16="http://schemas.microsoft.com/office/drawing/2014/main" id="{5C201101-A4C1-4234-DA10-03D951ADACB9}"/>
              </a:ext>
            </a:extLst>
          </p:cNvPr>
          <p:cNvCxnSpPr>
            <a:cxnSpLocks/>
          </p:cNvCxnSpPr>
          <p:nvPr/>
        </p:nvCxnSpPr>
        <p:spPr>
          <a:xfrm>
            <a:off x="8866177" y="820464"/>
            <a:ext cx="0" cy="3606582"/>
          </a:xfrm>
          <a:prstGeom prst="line">
            <a:avLst/>
          </a:prstGeom>
          <a:ln w="12700" cmpd="sng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21">
            <a:extLst>
              <a:ext uri="{FF2B5EF4-FFF2-40B4-BE49-F238E27FC236}">
                <a16:creationId xmlns:a16="http://schemas.microsoft.com/office/drawing/2014/main" id="{CFD46DCE-CFFB-60A3-493E-0FC3033B8C4D}"/>
              </a:ext>
            </a:extLst>
          </p:cNvPr>
          <p:cNvCxnSpPr>
            <a:cxnSpLocks/>
          </p:cNvCxnSpPr>
          <p:nvPr/>
        </p:nvCxnSpPr>
        <p:spPr>
          <a:xfrm>
            <a:off x="6096000" y="4427047"/>
            <a:ext cx="0" cy="1803291"/>
          </a:xfrm>
          <a:prstGeom prst="line">
            <a:avLst/>
          </a:prstGeom>
          <a:ln w="12700" cmpd="sng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25">
            <a:extLst>
              <a:ext uri="{FF2B5EF4-FFF2-40B4-BE49-F238E27FC236}">
                <a16:creationId xmlns:a16="http://schemas.microsoft.com/office/drawing/2014/main" id="{60CFE8B4-D9BF-7947-AABB-10F859AF6870}"/>
              </a:ext>
            </a:extLst>
          </p:cNvPr>
          <p:cNvCxnSpPr>
            <a:cxnSpLocks/>
          </p:cNvCxnSpPr>
          <p:nvPr/>
        </p:nvCxnSpPr>
        <p:spPr>
          <a:xfrm>
            <a:off x="7022296" y="2623756"/>
            <a:ext cx="1843881" cy="0"/>
          </a:xfrm>
          <a:prstGeom prst="line">
            <a:avLst/>
          </a:prstGeom>
          <a:ln w="12700" cmpd="sng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27">
            <a:extLst>
              <a:ext uri="{FF2B5EF4-FFF2-40B4-BE49-F238E27FC236}">
                <a16:creationId xmlns:a16="http://schemas.microsoft.com/office/drawing/2014/main" id="{185DA20F-1207-7D8F-6814-5FC2AF026782}"/>
              </a:ext>
            </a:extLst>
          </p:cNvPr>
          <p:cNvSpPr txBox="1"/>
          <p:nvPr/>
        </p:nvSpPr>
        <p:spPr>
          <a:xfrm>
            <a:off x="1569738" y="919854"/>
            <a:ext cx="82266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1.</a:t>
            </a:r>
            <a:r>
              <a:rPr lang="ko-KR" altLang="en-US" sz="16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문제</a:t>
            </a:r>
            <a:endParaRPr lang="en-US" altLang="ko-KR" sz="16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r>
              <a:rPr lang="en-US" altLang="ja-JP" sz="10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(Problem)</a:t>
            </a:r>
            <a:endParaRPr lang="ja-JP" altLang="en-US" sz="10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4" name="テキスト ボックス 31">
            <a:extLst>
              <a:ext uri="{FF2B5EF4-FFF2-40B4-BE49-F238E27FC236}">
                <a16:creationId xmlns:a16="http://schemas.microsoft.com/office/drawing/2014/main" id="{569C1E38-EF59-3D94-AD51-C5310965B322}"/>
              </a:ext>
            </a:extLst>
          </p:cNvPr>
          <p:cNvSpPr txBox="1"/>
          <p:nvPr/>
        </p:nvSpPr>
        <p:spPr>
          <a:xfrm>
            <a:off x="3423985" y="919854"/>
            <a:ext cx="93968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4.</a:t>
            </a:r>
            <a:r>
              <a:rPr lang="ko-KR" altLang="en-US" sz="16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해결책</a:t>
            </a:r>
            <a:endParaRPr lang="en-US" altLang="ja-JP" sz="16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r>
              <a:rPr lang="en-US" altLang="ja-JP" sz="10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(Solution)</a:t>
            </a:r>
            <a:endParaRPr lang="ja-JP" altLang="en-US" sz="10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grpSp>
        <p:nvGrpSpPr>
          <p:cNvPr id="15" name="グループ化 33">
            <a:extLst>
              <a:ext uri="{FF2B5EF4-FFF2-40B4-BE49-F238E27FC236}">
                <a16:creationId xmlns:a16="http://schemas.microsoft.com/office/drawing/2014/main" id="{13E7B4C3-EB43-94A2-8BEB-22A5998ECD2F}"/>
              </a:ext>
            </a:extLst>
          </p:cNvPr>
          <p:cNvGrpSpPr/>
          <p:nvPr/>
        </p:nvGrpSpPr>
        <p:grpSpPr>
          <a:xfrm>
            <a:off x="5201363" y="904465"/>
            <a:ext cx="1717137" cy="477054"/>
            <a:chOff x="403674" y="755374"/>
            <a:chExt cx="1717137" cy="477054"/>
          </a:xfrm>
        </p:grpSpPr>
        <p:sp>
          <p:nvSpPr>
            <p:cNvPr id="16" name="テキスト ボックス 34">
              <a:extLst>
                <a:ext uri="{FF2B5EF4-FFF2-40B4-BE49-F238E27FC236}">
                  <a16:creationId xmlns:a16="http://schemas.microsoft.com/office/drawing/2014/main" id="{50EC9E60-9395-5DD3-6D3F-99D6563DFD8C}"/>
                </a:ext>
              </a:extLst>
            </p:cNvPr>
            <p:cNvSpPr txBox="1"/>
            <p:nvPr/>
          </p:nvSpPr>
          <p:spPr>
            <a:xfrm>
              <a:off x="403674" y="755374"/>
              <a:ext cx="1717137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 dirty="0">
                  <a:latin typeface="Noto Sans KR" panose="020B0500000000000000" pitchFamily="34" charset="-127"/>
                  <a:ea typeface="Noto Sans KR" panose="020B0500000000000000" pitchFamily="34" charset="-127"/>
                </a:rPr>
                <a:t>3.</a:t>
              </a:r>
              <a:r>
                <a:rPr lang="ko-KR" altLang="en-US" sz="1600" b="1" dirty="0">
                  <a:latin typeface="Noto Sans KR" panose="020B0500000000000000" pitchFamily="34" charset="-127"/>
                  <a:ea typeface="Noto Sans KR" panose="020B0500000000000000" pitchFamily="34" charset="-127"/>
                </a:rPr>
                <a:t>가치 제안</a:t>
              </a:r>
              <a:endParaRPr lang="en-US" altLang="ja-JP" sz="1600" b="1" dirty="0"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  <a:p>
              <a:r>
                <a:rPr kumimoji="1" lang="en-US" altLang="ja-JP" sz="900" b="1" dirty="0">
                  <a:latin typeface="Noto Sans KR" panose="020B0500000000000000" pitchFamily="34" charset="-127"/>
                  <a:ea typeface="Noto Sans KR" panose="020B0500000000000000" pitchFamily="34" charset="-127"/>
                </a:rPr>
                <a:t>(Unique Value Proposition)</a:t>
              </a:r>
              <a:endParaRPr kumimoji="1" lang="ja-JP" altLang="en-US" sz="900" b="1" dirty="0"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</p:txBody>
        </p:sp>
        <p:sp>
          <p:nvSpPr>
            <p:cNvPr id="17" name="テキスト ボックス 35">
              <a:extLst>
                <a:ext uri="{FF2B5EF4-FFF2-40B4-BE49-F238E27FC236}">
                  <a16:creationId xmlns:a16="http://schemas.microsoft.com/office/drawing/2014/main" id="{6CF33450-F53F-203D-18D0-975166D0B593}"/>
                </a:ext>
              </a:extLst>
            </p:cNvPr>
            <p:cNvSpPr txBox="1"/>
            <p:nvPr/>
          </p:nvSpPr>
          <p:spPr>
            <a:xfrm>
              <a:off x="711313" y="801541"/>
              <a:ext cx="18473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ja-JP" altLang="en-US" sz="900" b="1" dirty="0"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</p:txBody>
        </p:sp>
      </p:grpSp>
      <p:grpSp>
        <p:nvGrpSpPr>
          <p:cNvPr id="18" name="グループ化 36">
            <a:extLst>
              <a:ext uri="{FF2B5EF4-FFF2-40B4-BE49-F238E27FC236}">
                <a16:creationId xmlns:a16="http://schemas.microsoft.com/office/drawing/2014/main" id="{B0266114-4BD7-FC4B-6443-D8A9DD1F156E}"/>
              </a:ext>
            </a:extLst>
          </p:cNvPr>
          <p:cNvGrpSpPr/>
          <p:nvPr/>
        </p:nvGrpSpPr>
        <p:grpSpPr>
          <a:xfrm>
            <a:off x="7111747" y="919854"/>
            <a:ext cx="1263487" cy="507831"/>
            <a:chOff x="403674" y="755374"/>
            <a:chExt cx="1263487" cy="507831"/>
          </a:xfrm>
        </p:grpSpPr>
        <p:sp>
          <p:nvSpPr>
            <p:cNvPr id="19" name="テキスト ボックス 37">
              <a:extLst>
                <a:ext uri="{FF2B5EF4-FFF2-40B4-BE49-F238E27FC236}">
                  <a16:creationId xmlns:a16="http://schemas.microsoft.com/office/drawing/2014/main" id="{8414A65B-16AD-DBCC-8B04-54230A716FE8}"/>
                </a:ext>
              </a:extLst>
            </p:cNvPr>
            <p:cNvSpPr txBox="1"/>
            <p:nvPr/>
          </p:nvSpPr>
          <p:spPr>
            <a:xfrm>
              <a:off x="403674" y="755374"/>
              <a:ext cx="1263487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latin typeface="Noto Sans KR" panose="020B0500000000000000" pitchFamily="34" charset="-127"/>
                  <a:ea typeface="Noto Sans KR" panose="020B0500000000000000" pitchFamily="34" charset="-127"/>
                </a:rPr>
                <a:t>5.</a:t>
              </a:r>
              <a:r>
                <a:rPr lang="ko-KR" altLang="en-US" b="1" dirty="0">
                  <a:latin typeface="Noto Sans KR" panose="020B0500000000000000" pitchFamily="34" charset="-127"/>
                  <a:ea typeface="Noto Sans KR" panose="020B0500000000000000" pitchFamily="34" charset="-127"/>
                </a:rPr>
                <a:t>경쟁우위</a:t>
              </a:r>
              <a:endParaRPr lang="ja-JP" altLang="en-US" b="1" dirty="0"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  <a:p>
              <a:r>
                <a:rPr kumimoji="1" lang="en-US" altLang="ja-JP" sz="900" b="1" dirty="0">
                  <a:latin typeface="Noto Sans KR" panose="020B0500000000000000" pitchFamily="34" charset="-127"/>
                  <a:ea typeface="Noto Sans KR" panose="020B0500000000000000" pitchFamily="34" charset="-127"/>
                </a:rPr>
                <a:t>(</a:t>
              </a:r>
              <a:r>
                <a:rPr lang="en-US" altLang="ko-KR" sz="900" b="1" dirty="0">
                  <a:latin typeface="Noto Sans KR" panose="020B0500000000000000" pitchFamily="34" charset="-127"/>
                  <a:ea typeface="Noto Sans KR" panose="020B0500000000000000" pitchFamily="34" charset="-127"/>
                </a:rPr>
                <a:t>Unfair Advantage</a:t>
              </a:r>
              <a:r>
                <a:rPr kumimoji="1" lang="en-US" altLang="ja-JP" sz="900" b="1" dirty="0">
                  <a:latin typeface="Noto Sans KR" panose="020B0500000000000000" pitchFamily="34" charset="-127"/>
                  <a:ea typeface="Noto Sans KR" panose="020B0500000000000000" pitchFamily="34" charset="-127"/>
                </a:rPr>
                <a:t>)</a:t>
              </a:r>
              <a:endParaRPr kumimoji="1" lang="ja-JP" altLang="en-US" sz="900" b="1" dirty="0"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</p:txBody>
        </p:sp>
        <p:sp>
          <p:nvSpPr>
            <p:cNvPr id="20" name="テキスト ボックス 38">
              <a:extLst>
                <a:ext uri="{FF2B5EF4-FFF2-40B4-BE49-F238E27FC236}">
                  <a16:creationId xmlns:a16="http://schemas.microsoft.com/office/drawing/2014/main" id="{B5BD3902-0EB8-02D5-231E-79EBFD3EBF8D}"/>
                </a:ext>
              </a:extLst>
            </p:cNvPr>
            <p:cNvSpPr txBox="1"/>
            <p:nvPr/>
          </p:nvSpPr>
          <p:spPr>
            <a:xfrm>
              <a:off x="711313" y="801541"/>
              <a:ext cx="18473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ja-JP" altLang="en-US" sz="900" b="1" dirty="0"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</p:txBody>
        </p:sp>
      </p:grpSp>
      <p:grpSp>
        <p:nvGrpSpPr>
          <p:cNvPr id="21" name="グループ化 39">
            <a:extLst>
              <a:ext uri="{FF2B5EF4-FFF2-40B4-BE49-F238E27FC236}">
                <a16:creationId xmlns:a16="http://schemas.microsoft.com/office/drawing/2014/main" id="{402DC269-DADF-BD5D-C378-B3BA2BA25574}"/>
              </a:ext>
            </a:extLst>
          </p:cNvPr>
          <p:cNvGrpSpPr/>
          <p:nvPr/>
        </p:nvGrpSpPr>
        <p:grpSpPr>
          <a:xfrm>
            <a:off x="8955628" y="919854"/>
            <a:ext cx="1822102" cy="523220"/>
            <a:chOff x="403674" y="755374"/>
            <a:chExt cx="1822102" cy="523220"/>
          </a:xfrm>
        </p:grpSpPr>
        <p:sp>
          <p:nvSpPr>
            <p:cNvPr id="22" name="テキスト ボックス 40">
              <a:extLst>
                <a:ext uri="{FF2B5EF4-FFF2-40B4-BE49-F238E27FC236}">
                  <a16:creationId xmlns:a16="http://schemas.microsoft.com/office/drawing/2014/main" id="{6273F4A3-1727-97F2-4375-CCBFCFB50CC6}"/>
                </a:ext>
              </a:extLst>
            </p:cNvPr>
            <p:cNvSpPr txBox="1"/>
            <p:nvPr/>
          </p:nvSpPr>
          <p:spPr>
            <a:xfrm>
              <a:off x="403674" y="755374"/>
              <a:ext cx="18221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 dirty="0">
                  <a:latin typeface="Noto Sans KR" panose="020B0500000000000000" pitchFamily="34" charset="-127"/>
                  <a:ea typeface="Noto Sans KR" panose="020B0500000000000000" pitchFamily="34" charset="-127"/>
                </a:rPr>
                <a:t>2.</a:t>
              </a:r>
              <a:r>
                <a:rPr lang="ko-KR" altLang="en-US" sz="1600" b="1" dirty="0">
                  <a:latin typeface="Noto Sans KR" panose="020B0500000000000000" pitchFamily="34" charset="-127"/>
                  <a:ea typeface="Noto Sans KR" panose="020B0500000000000000" pitchFamily="34" charset="-127"/>
                </a:rPr>
                <a:t>고객 세그먼트</a:t>
              </a:r>
              <a:endParaRPr lang="en-US" altLang="ja-JP" b="1" dirty="0"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  <a:p>
              <a:r>
                <a:rPr lang="en-US" altLang="ja-JP" sz="1200" b="1" dirty="0">
                  <a:latin typeface="Noto Sans KR" panose="020B0500000000000000" pitchFamily="34" charset="-127"/>
                  <a:ea typeface="Noto Sans KR" panose="020B0500000000000000" pitchFamily="34" charset="-127"/>
                </a:rPr>
                <a:t>(Customer Segments)</a:t>
              </a:r>
              <a:endParaRPr lang="ja-JP" altLang="en-US" sz="1200" b="1" dirty="0"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</p:txBody>
        </p:sp>
        <p:sp>
          <p:nvSpPr>
            <p:cNvPr id="23" name="テキスト ボックス 41">
              <a:extLst>
                <a:ext uri="{FF2B5EF4-FFF2-40B4-BE49-F238E27FC236}">
                  <a16:creationId xmlns:a16="http://schemas.microsoft.com/office/drawing/2014/main" id="{6E550626-CEEE-7F2E-1075-0BD6A5D17263}"/>
                </a:ext>
              </a:extLst>
            </p:cNvPr>
            <p:cNvSpPr txBox="1"/>
            <p:nvPr/>
          </p:nvSpPr>
          <p:spPr>
            <a:xfrm>
              <a:off x="711313" y="801541"/>
              <a:ext cx="18473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ja-JP" altLang="en-US" sz="1000" b="1" dirty="0"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</p:txBody>
        </p:sp>
      </p:grpSp>
      <p:grpSp>
        <p:nvGrpSpPr>
          <p:cNvPr id="24" name="グループ化 42">
            <a:extLst>
              <a:ext uri="{FF2B5EF4-FFF2-40B4-BE49-F238E27FC236}">
                <a16:creationId xmlns:a16="http://schemas.microsoft.com/office/drawing/2014/main" id="{4C33EB2D-FC6A-24D2-0390-F7FA53894516}"/>
              </a:ext>
            </a:extLst>
          </p:cNvPr>
          <p:cNvGrpSpPr/>
          <p:nvPr/>
        </p:nvGrpSpPr>
        <p:grpSpPr>
          <a:xfrm>
            <a:off x="7111747" y="2723146"/>
            <a:ext cx="864339" cy="492443"/>
            <a:chOff x="403674" y="755374"/>
            <a:chExt cx="864339" cy="492443"/>
          </a:xfrm>
        </p:grpSpPr>
        <p:sp>
          <p:nvSpPr>
            <p:cNvPr id="25" name="テキスト ボックス 43">
              <a:extLst>
                <a:ext uri="{FF2B5EF4-FFF2-40B4-BE49-F238E27FC236}">
                  <a16:creationId xmlns:a16="http://schemas.microsoft.com/office/drawing/2014/main" id="{1A539A0F-15CA-C019-A7F1-084E10DDA945}"/>
                </a:ext>
              </a:extLst>
            </p:cNvPr>
            <p:cNvSpPr txBox="1"/>
            <p:nvPr/>
          </p:nvSpPr>
          <p:spPr>
            <a:xfrm>
              <a:off x="403674" y="755374"/>
              <a:ext cx="864339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600" b="1" dirty="0">
                  <a:latin typeface="Noto Sans KR" panose="020B0500000000000000" pitchFamily="34" charset="-127"/>
                  <a:ea typeface="Noto Sans KR" panose="020B0500000000000000" pitchFamily="34" charset="-127"/>
                </a:rPr>
                <a:t>9.</a:t>
              </a:r>
              <a:r>
                <a:rPr lang="ko-KR" altLang="en-US" sz="1600" b="1" dirty="0">
                  <a:latin typeface="Noto Sans KR" panose="020B0500000000000000" pitchFamily="34" charset="-127"/>
                  <a:ea typeface="Noto Sans KR" panose="020B0500000000000000" pitchFamily="34" charset="-127"/>
                </a:rPr>
                <a:t>채널</a:t>
              </a:r>
              <a:endParaRPr lang="ja-JP" altLang="en-US" sz="1600" b="1" dirty="0"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  <a:p>
              <a:r>
                <a:rPr kumimoji="1" lang="en-US" altLang="ja-JP" sz="1000" b="1" dirty="0">
                  <a:latin typeface="Noto Sans KR" panose="020B0500000000000000" pitchFamily="34" charset="-127"/>
                  <a:ea typeface="Noto Sans KR" panose="020B0500000000000000" pitchFamily="34" charset="-127"/>
                </a:rPr>
                <a:t>(Channels)</a:t>
              </a:r>
              <a:endParaRPr kumimoji="1" lang="ja-JP" altLang="en-US" sz="1000" b="1" dirty="0"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</p:txBody>
        </p:sp>
        <p:sp>
          <p:nvSpPr>
            <p:cNvPr id="26" name="テキスト ボックス 44">
              <a:extLst>
                <a:ext uri="{FF2B5EF4-FFF2-40B4-BE49-F238E27FC236}">
                  <a16:creationId xmlns:a16="http://schemas.microsoft.com/office/drawing/2014/main" id="{97B6C182-B9A4-A067-FF59-2CDBB45FB7F7}"/>
                </a:ext>
              </a:extLst>
            </p:cNvPr>
            <p:cNvSpPr txBox="1"/>
            <p:nvPr/>
          </p:nvSpPr>
          <p:spPr>
            <a:xfrm>
              <a:off x="711313" y="801541"/>
              <a:ext cx="18473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ja-JP" altLang="en-US" sz="1000" b="1" dirty="0"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</p:txBody>
        </p:sp>
      </p:grpSp>
      <p:grpSp>
        <p:nvGrpSpPr>
          <p:cNvPr id="27" name="グループ化 45">
            <a:extLst>
              <a:ext uri="{FF2B5EF4-FFF2-40B4-BE49-F238E27FC236}">
                <a16:creationId xmlns:a16="http://schemas.microsoft.com/office/drawing/2014/main" id="{82275F36-7407-5AE1-3250-A1906B5DA373}"/>
              </a:ext>
            </a:extLst>
          </p:cNvPr>
          <p:cNvGrpSpPr/>
          <p:nvPr/>
        </p:nvGrpSpPr>
        <p:grpSpPr>
          <a:xfrm>
            <a:off x="3423985" y="2723146"/>
            <a:ext cx="1175322" cy="492443"/>
            <a:chOff x="403674" y="755374"/>
            <a:chExt cx="1175322" cy="492443"/>
          </a:xfrm>
        </p:grpSpPr>
        <p:sp>
          <p:nvSpPr>
            <p:cNvPr id="28" name="テキスト ボックス 46">
              <a:extLst>
                <a:ext uri="{FF2B5EF4-FFF2-40B4-BE49-F238E27FC236}">
                  <a16:creationId xmlns:a16="http://schemas.microsoft.com/office/drawing/2014/main" id="{B0A90F65-50A8-65EE-AFB3-2A7EEBCFFA7B}"/>
                </a:ext>
              </a:extLst>
            </p:cNvPr>
            <p:cNvSpPr txBox="1"/>
            <p:nvPr/>
          </p:nvSpPr>
          <p:spPr>
            <a:xfrm>
              <a:off x="403674" y="755374"/>
              <a:ext cx="1175322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600" b="1" dirty="0">
                  <a:latin typeface="Noto Sans KR" panose="020B0500000000000000" pitchFamily="34" charset="-127"/>
                  <a:ea typeface="Noto Sans KR" panose="020B0500000000000000" pitchFamily="34" charset="-127"/>
                </a:rPr>
                <a:t>8.</a:t>
              </a:r>
              <a:r>
                <a:rPr lang="ko-KR" altLang="en-US" sz="1600" b="1" dirty="0">
                  <a:latin typeface="Noto Sans KR" panose="020B0500000000000000" pitchFamily="34" charset="-127"/>
                  <a:ea typeface="Noto Sans KR" panose="020B0500000000000000" pitchFamily="34" charset="-127"/>
                </a:rPr>
                <a:t>주요 지표</a:t>
              </a:r>
              <a:endParaRPr lang="ja-JP" altLang="en-US" sz="1600" b="1" dirty="0"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  <a:p>
              <a:r>
                <a:rPr lang="en-US" altLang="ja-JP" sz="1000" b="1" dirty="0">
                  <a:latin typeface="Noto Sans KR" panose="020B0500000000000000" pitchFamily="34" charset="-127"/>
                  <a:ea typeface="Noto Sans KR" panose="020B0500000000000000" pitchFamily="34" charset="-127"/>
                </a:rPr>
                <a:t>(Key Metrics)</a:t>
              </a:r>
              <a:endParaRPr kumimoji="1" lang="ja-JP" altLang="en-US" sz="1000" b="1" dirty="0"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</p:txBody>
        </p:sp>
        <p:sp>
          <p:nvSpPr>
            <p:cNvPr id="29" name="テキスト ボックス 47">
              <a:extLst>
                <a:ext uri="{FF2B5EF4-FFF2-40B4-BE49-F238E27FC236}">
                  <a16:creationId xmlns:a16="http://schemas.microsoft.com/office/drawing/2014/main" id="{A82E9221-2405-6C3A-FC46-F15274845B01}"/>
                </a:ext>
              </a:extLst>
            </p:cNvPr>
            <p:cNvSpPr txBox="1"/>
            <p:nvPr/>
          </p:nvSpPr>
          <p:spPr>
            <a:xfrm>
              <a:off x="711313" y="801541"/>
              <a:ext cx="18473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ja-JP" altLang="en-US" sz="1000" b="1" dirty="0"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</p:txBody>
        </p:sp>
      </p:grpSp>
      <p:grpSp>
        <p:nvGrpSpPr>
          <p:cNvPr id="30" name="グループ化 48">
            <a:extLst>
              <a:ext uri="{FF2B5EF4-FFF2-40B4-BE49-F238E27FC236}">
                <a16:creationId xmlns:a16="http://schemas.microsoft.com/office/drawing/2014/main" id="{EC2286DF-E401-B31C-E13A-0D74CA576D6B}"/>
              </a:ext>
            </a:extLst>
          </p:cNvPr>
          <p:cNvGrpSpPr/>
          <p:nvPr/>
        </p:nvGrpSpPr>
        <p:grpSpPr>
          <a:xfrm>
            <a:off x="1569738" y="4526437"/>
            <a:ext cx="1199367" cy="492443"/>
            <a:chOff x="403674" y="755374"/>
            <a:chExt cx="1199367" cy="492443"/>
          </a:xfrm>
        </p:grpSpPr>
        <p:sp>
          <p:nvSpPr>
            <p:cNvPr id="31" name="テキスト ボックス 49">
              <a:extLst>
                <a:ext uri="{FF2B5EF4-FFF2-40B4-BE49-F238E27FC236}">
                  <a16:creationId xmlns:a16="http://schemas.microsoft.com/office/drawing/2014/main" id="{2621F059-8D9A-5009-792B-F9ED3324C99D}"/>
                </a:ext>
              </a:extLst>
            </p:cNvPr>
            <p:cNvSpPr txBox="1"/>
            <p:nvPr/>
          </p:nvSpPr>
          <p:spPr>
            <a:xfrm>
              <a:off x="403674" y="755374"/>
              <a:ext cx="1199367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 dirty="0">
                  <a:latin typeface="Noto Sans KR" panose="020B0500000000000000" pitchFamily="34" charset="-127"/>
                  <a:ea typeface="Noto Sans KR" panose="020B0500000000000000" pitchFamily="34" charset="-127"/>
                </a:rPr>
                <a:t>7.</a:t>
              </a:r>
              <a:r>
                <a:rPr lang="ko-KR" altLang="en-US" sz="1600" b="1" dirty="0">
                  <a:latin typeface="Noto Sans KR" panose="020B0500000000000000" pitchFamily="34" charset="-127"/>
                  <a:ea typeface="Noto Sans KR" panose="020B0500000000000000" pitchFamily="34" charset="-127"/>
                </a:rPr>
                <a:t>비용 구조</a:t>
              </a:r>
              <a:endParaRPr lang="ja-JP" altLang="en-US" sz="1600" b="1" dirty="0"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  <a:p>
              <a:r>
                <a:rPr kumimoji="1" lang="en-US" altLang="ja-JP" sz="1000" b="1" dirty="0">
                  <a:latin typeface="Noto Sans KR" panose="020B0500000000000000" pitchFamily="34" charset="-127"/>
                  <a:ea typeface="Noto Sans KR" panose="020B0500000000000000" pitchFamily="34" charset="-127"/>
                </a:rPr>
                <a:t>(Cost Structure)</a:t>
              </a:r>
              <a:endParaRPr kumimoji="1" lang="ja-JP" altLang="en-US" sz="1000" b="1" dirty="0"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</p:txBody>
        </p:sp>
        <p:sp>
          <p:nvSpPr>
            <p:cNvPr id="32" name="テキスト ボックス 50">
              <a:extLst>
                <a:ext uri="{FF2B5EF4-FFF2-40B4-BE49-F238E27FC236}">
                  <a16:creationId xmlns:a16="http://schemas.microsoft.com/office/drawing/2014/main" id="{3B95E6BD-714F-19DF-6043-AD489624597B}"/>
                </a:ext>
              </a:extLst>
            </p:cNvPr>
            <p:cNvSpPr txBox="1"/>
            <p:nvPr/>
          </p:nvSpPr>
          <p:spPr>
            <a:xfrm>
              <a:off x="711313" y="801541"/>
              <a:ext cx="18473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ja-JP" altLang="en-US" sz="1000" b="1" dirty="0"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</p:txBody>
        </p:sp>
      </p:grpSp>
      <p:grpSp>
        <p:nvGrpSpPr>
          <p:cNvPr id="33" name="グループ化 51">
            <a:extLst>
              <a:ext uri="{FF2B5EF4-FFF2-40B4-BE49-F238E27FC236}">
                <a16:creationId xmlns:a16="http://schemas.microsoft.com/office/drawing/2014/main" id="{0E0FE607-3BB3-6B88-E2FD-937A668327AF}"/>
              </a:ext>
            </a:extLst>
          </p:cNvPr>
          <p:cNvGrpSpPr/>
          <p:nvPr/>
        </p:nvGrpSpPr>
        <p:grpSpPr>
          <a:xfrm>
            <a:off x="6185451" y="4526437"/>
            <a:ext cx="1319592" cy="492443"/>
            <a:chOff x="403674" y="755374"/>
            <a:chExt cx="1319592" cy="492443"/>
          </a:xfrm>
        </p:grpSpPr>
        <p:sp>
          <p:nvSpPr>
            <p:cNvPr id="34" name="テキスト ボックス 52">
              <a:extLst>
                <a:ext uri="{FF2B5EF4-FFF2-40B4-BE49-F238E27FC236}">
                  <a16:creationId xmlns:a16="http://schemas.microsoft.com/office/drawing/2014/main" id="{650F565B-93CC-E15C-DD0E-26E8C73E6CF5}"/>
                </a:ext>
              </a:extLst>
            </p:cNvPr>
            <p:cNvSpPr txBox="1"/>
            <p:nvPr/>
          </p:nvSpPr>
          <p:spPr>
            <a:xfrm>
              <a:off x="403674" y="755374"/>
              <a:ext cx="1319592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 dirty="0">
                  <a:latin typeface="Noto Sans KR" panose="020B0500000000000000" pitchFamily="34" charset="-127"/>
                  <a:ea typeface="Noto Sans KR" panose="020B0500000000000000" pitchFamily="34" charset="-127"/>
                </a:rPr>
                <a:t>6.</a:t>
              </a:r>
              <a:r>
                <a:rPr lang="ko-KR" altLang="en-US" sz="1600" b="1" dirty="0">
                  <a:latin typeface="Noto Sans KR" panose="020B0500000000000000" pitchFamily="34" charset="-127"/>
                  <a:ea typeface="Noto Sans KR" panose="020B0500000000000000" pitchFamily="34" charset="-127"/>
                </a:rPr>
                <a:t>수익 흐름</a:t>
              </a:r>
              <a:endParaRPr lang="ja-JP" altLang="en-US" sz="1600" b="1" dirty="0"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  <a:p>
              <a:r>
                <a:rPr kumimoji="1" lang="en-US" altLang="ja-JP" sz="1000" b="1" dirty="0">
                  <a:latin typeface="Noto Sans KR" panose="020B0500000000000000" pitchFamily="34" charset="-127"/>
                  <a:ea typeface="Noto Sans KR" panose="020B0500000000000000" pitchFamily="34" charset="-127"/>
                </a:rPr>
                <a:t>(Revenue Stream)</a:t>
              </a:r>
              <a:endParaRPr kumimoji="1" lang="ja-JP" altLang="en-US" sz="1000" b="1" dirty="0"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</p:txBody>
        </p:sp>
        <p:sp>
          <p:nvSpPr>
            <p:cNvPr id="35" name="テキスト ボックス 53">
              <a:extLst>
                <a:ext uri="{FF2B5EF4-FFF2-40B4-BE49-F238E27FC236}">
                  <a16:creationId xmlns:a16="http://schemas.microsoft.com/office/drawing/2014/main" id="{0C1102AE-13BE-7AE0-BF40-3F06F6380F37}"/>
                </a:ext>
              </a:extLst>
            </p:cNvPr>
            <p:cNvSpPr txBox="1"/>
            <p:nvPr/>
          </p:nvSpPr>
          <p:spPr>
            <a:xfrm>
              <a:off x="711313" y="801541"/>
              <a:ext cx="18473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ja-JP" altLang="en-US" sz="1000" b="1" dirty="0">
                <a:latin typeface="Noto Sans KR" panose="020B0500000000000000" pitchFamily="34" charset="-127"/>
                <a:ea typeface="Noto Sans KR" panose="020B0500000000000000" pitchFamily="34" charset="-127"/>
              </a:endParaRPr>
            </a:p>
          </p:txBody>
        </p:sp>
      </p:grpSp>
      <p:sp>
        <p:nvSpPr>
          <p:cNvPr id="36" name="テキスト ボックス 27">
            <a:extLst>
              <a:ext uri="{FF2B5EF4-FFF2-40B4-BE49-F238E27FC236}">
                <a16:creationId xmlns:a16="http://schemas.microsoft.com/office/drawing/2014/main" id="{60166F5E-7B1C-19D6-F7B2-0CE2CC1430E1}"/>
              </a:ext>
            </a:extLst>
          </p:cNvPr>
          <p:cNvSpPr txBox="1"/>
          <p:nvPr/>
        </p:nvSpPr>
        <p:spPr>
          <a:xfrm>
            <a:off x="1973618" y="225272"/>
            <a:ext cx="3071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린 캔버스</a:t>
            </a:r>
            <a:r>
              <a:rPr lang="en-US" altLang="ja-JP" sz="20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(</a:t>
            </a:r>
            <a:r>
              <a:rPr lang="en-US" altLang="ja-JP" sz="2000" b="1" dirty="0">
                <a:solidFill>
                  <a:srgbClr val="202124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L</a:t>
            </a:r>
            <a:r>
              <a:rPr lang="en-US" altLang="ko-KR" sz="2000" b="0" i="0" dirty="0">
                <a:solidFill>
                  <a:srgbClr val="202124"/>
                </a:solidFill>
                <a:effectLst/>
                <a:latin typeface="Noto Sans KR" panose="020B0500000000000000" pitchFamily="34" charset="-127"/>
                <a:ea typeface="Noto Sans KR" panose="020B0500000000000000" pitchFamily="34" charset="-127"/>
              </a:rPr>
              <a:t>ean </a:t>
            </a:r>
            <a:r>
              <a:rPr lang="en-US" altLang="ko-KR" sz="2000" b="1" dirty="0">
                <a:solidFill>
                  <a:srgbClr val="202124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C</a:t>
            </a:r>
            <a:r>
              <a:rPr lang="en-US" altLang="ko-KR" sz="2000" b="0" i="0" dirty="0">
                <a:solidFill>
                  <a:srgbClr val="202124"/>
                </a:solidFill>
                <a:effectLst/>
                <a:latin typeface="Noto Sans KR" panose="020B0500000000000000" pitchFamily="34" charset="-127"/>
                <a:ea typeface="Noto Sans KR" panose="020B0500000000000000" pitchFamily="34" charset="-127"/>
              </a:rPr>
              <a:t>anvas</a:t>
            </a:r>
            <a:r>
              <a:rPr lang="en-US" altLang="ja-JP" sz="20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  <a:endParaRPr lang="ja-JP" altLang="en-US" sz="20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pic>
        <p:nvPicPr>
          <p:cNvPr id="38" name="그래픽 37" descr="블로그 단색으로 채워진">
            <a:extLst>
              <a:ext uri="{FF2B5EF4-FFF2-40B4-BE49-F238E27FC236}">
                <a16:creationId xmlns:a16="http://schemas.microsoft.com/office/drawing/2014/main" id="{975B638B-D20E-839C-E39C-69E9A697C5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2714" y="196883"/>
            <a:ext cx="428499" cy="4284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41624A5-A0CA-5C56-28F7-7ACE62077BEC}"/>
              </a:ext>
            </a:extLst>
          </p:cNvPr>
          <p:cNvSpPr txBox="1"/>
          <p:nvPr/>
        </p:nvSpPr>
        <p:spPr>
          <a:xfrm>
            <a:off x="1433892" y="6314339"/>
            <a:ext cx="934383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※ 1~9</a:t>
            </a:r>
            <a:r>
              <a:rPr lang="ko-KR" altLang="en-US" sz="1050" dirty="0"/>
              <a:t>번의 작성 순서는 </a:t>
            </a:r>
            <a:r>
              <a:rPr lang="en-US" altLang="ko-KR" sz="1050" dirty="0"/>
              <a:t>Running Lean</a:t>
            </a:r>
            <a:r>
              <a:rPr lang="ko-KR" altLang="en-US" sz="1050" dirty="0"/>
              <a:t>에서 제시한 작성 순서입니다</a:t>
            </a:r>
            <a:r>
              <a:rPr lang="en-US" altLang="ko-KR" sz="1050" dirty="0"/>
              <a:t>. </a:t>
            </a:r>
            <a:r>
              <a:rPr lang="ko-KR" altLang="en-US" sz="1050" dirty="0"/>
              <a:t>작성 순서는 제품 및 서비스 등에 따라 작성 순서를 임의로 정의할 수 있습니다</a:t>
            </a:r>
            <a:r>
              <a:rPr lang="en-US" altLang="ko-KR" sz="1050" dirty="0"/>
              <a:t>.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2266208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98</Words>
  <Application>Microsoft Office PowerPoint</Application>
  <PresentationFormat>와이드스크린</PresentationFormat>
  <Paragraphs>20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Noto Sans KR</vt:lpstr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kbizplan</dc:creator>
  <cp:lastModifiedBy>kbizplan</cp:lastModifiedBy>
  <cp:revision>4</cp:revision>
  <dcterms:created xsi:type="dcterms:W3CDTF">2023-02-20T08:21:32Z</dcterms:created>
  <dcterms:modified xsi:type="dcterms:W3CDTF">2023-02-27T08:14:21Z</dcterms:modified>
</cp:coreProperties>
</file>